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8288000" cy="10287000"/>
  <p:notesSz cx="6858000" cy="9144000"/>
  <p:embeddedFontLst>
    <p:embeddedFont>
      <p:font typeface="Bebas Neue Bold" panose="020B0604020202020204" charset="0"/>
      <p:regular r:id="rId22"/>
    </p:embeddedFont>
    <p:embeddedFont>
      <p:font typeface="Canva Sans" panose="020B0604020202020204" charset="0"/>
      <p:regular r:id="rId23"/>
    </p:embeddedFont>
    <p:embeddedFont>
      <p:font typeface="Canva Sans Bold" panose="020B0604020202020204" charset="0"/>
      <p:regular r:id="rId24"/>
    </p:embeddedFont>
    <p:embeddedFont>
      <p:font typeface="Open Sans" panose="020B0606030504020204" pitchFamily="34" charset="0"/>
      <p:regular r:id="rId25"/>
    </p:embeddedFont>
    <p:embeddedFont>
      <p:font typeface="Open Sans Bold" panose="020B0806030504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>
      <p:cViewPr varScale="1">
        <p:scale>
          <a:sx n="39" d="100"/>
          <a:sy n="39" d="100"/>
        </p:scale>
        <p:origin x="96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sv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06379" y="3484288"/>
            <a:ext cx="7882781" cy="1366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Graph Puzzle Game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3599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3599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518797" y="5387864"/>
            <a:ext cx="6602287" cy="4414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- 4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D.Kishore</a:t>
            </a:r>
            <a:r>
              <a:rPr lang="en-US" sz="26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Reddy (CB.SC.U4CSE24010)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Santhosh.V</a:t>
            </a:r>
            <a:r>
              <a:rPr lang="en-US" sz="26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(CB.SC.U4CSE24047)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Hasini</a:t>
            </a:r>
            <a:r>
              <a:rPr lang="en-US" sz="26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(CB.SC.U4CSE24068)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Tulasi</a:t>
            </a:r>
            <a:r>
              <a:rPr lang="en-US" sz="26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Sadhwika</a:t>
            </a:r>
            <a:r>
              <a:rPr lang="en-US" sz="26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(CB.SC.U4CSE24054)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endParaRPr lang="en-US" sz="26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26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26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33165" y="1622174"/>
            <a:ext cx="16421671" cy="1554903"/>
            <a:chOff x="0" y="0"/>
            <a:chExt cx="22338301" cy="21151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38302" cy="2115126"/>
            </a:xfrm>
            <a:custGeom>
              <a:avLst/>
              <a:gdLst/>
              <a:ahLst/>
              <a:cxnLst/>
              <a:rect l="l" t="t" r="r" b="b"/>
              <a:pathLst>
                <a:path w="22338302" h="2115126">
                  <a:moveTo>
                    <a:pt x="0" y="0"/>
                  </a:moveTo>
                  <a:lnTo>
                    <a:pt x="22338302" y="0"/>
                  </a:lnTo>
                  <a:lnTo>
                    <a:pt x="22338302" y="2115126"/>
                  </a:lnTo>
                  <a:lnTo>
                    <a:pt x="0" y="2115126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22338301" cy="2200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579"/>
                </a:lnSpc>
              </a:pPr>
              <a:r>
                <a:rPr lang="en-US" sz="4699" b="1" dirty="0" err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Hashiwokakero</a:t>
              </a:r>
              <a:r>
                <a:rPr lang="en-US" sz="46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Game Using Greedy Algorithms</a:t>
              </a:r>
            </a:p>
            <a:p>
              <a:pPr algn="ctr">
                <a:lnSpc>
                  <a:spcPts val="2659"/>
                </a:lnSpc>
              </a:pPr>
              <a:endParaRPr lang="en-US" sz="46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82609" y="5653128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968411" y="1201755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1401117" y="2405623"/>
            <a:ext cx="597518" cy="103605"/>
            <a:chOff x="0" y="0"/>
            <a:chExt cx="812800" cy="1409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64803" y="3451201"/>
            <a:ext cx="5066489" cy="3832657"/>
            <a:chOff x="0" y="0"/>
            <a:chExt cx="6891915" cy="52135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91915" cy="5213541"/>
            </a:xfrm>
            <a:custGeom>
              <a:avLst/>
              <a:gdLst/>
              <a:ahLst/>
              <a:cxnLst/>
              <a:rect l="l" t="t" r="r" b="b"/>
              <a:pathLst>
                <a:path w="6891915" h="5213541">
                  <a:moveTo>
                    <a:pt x="0" y="0"/>
                  </a:moveTo>
                  <a:lnTo>
                    <a:pt x="6891915" y="0"/>
                  </a:lnTo>
                  <a:lnTo>
                    <a:pt x="6891915" y="5213541"/>
                  </a:lnTo>
                  <a:lnTo>
                    <a:pt x="0" y="5213541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891915" cy="5251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670617" y="1409700"/>
            <a:ext cx="7080760" cy="7034415"/>
          </a:xfrm>
          <a:custGeom>
            <a:avLst/>
            <a:gdLst/>
            <a:ahLst/>
            <a:cxnLst/>
            <a:rect l="l" t="t" r="r" b="b"/>
            <a:pathLst>
              <a:path w="6062771" h="6233073">
                <a:moveTo>
                  <a:pt x="0" y="0"/>
                </a:moveTo>
                <a:lnTo>
                  <a:pt x="6062771" y="0"/>
                </a:lnTo>
                <a:lnTo>
                  <a:pt x="6062771" y="6233073"/>
                </a:lnTo>
                <a:lnTo>
                  <a:pt x="0" y="62330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33363" y="2333601"/>
            <a:ext cx="3637432" cy="111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499" b="1" dirty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ABOUT GAME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20400" y="3543299"/>
            <a:ext cx="4884934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is </a:t>
            </a:r>
            <a:r>
              <a:rPr lang="en-US" sz="21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Hashiwokakero</a:t>
            </a:r>
            <a:r>
              <a:rPr lang="en-US" sz="21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? </a:t>
            </a: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logic-based bridge-connecting puzzle</a:t>
            </a: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Islands are placed on a grid</a:t>
            </a: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Each island has a number showing required bridges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endParaRPr lang="en-US" sz="19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820400" y="5595143"/>
            <a:ext cx="4884933" cy="1654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Goal of the Puzzle</a:t>
            </a:r>
          </a:p>
          <a:p>
            <a:pPr algn="l">
              <a:lnSpc>
                <a:spcPts val="2659"/>
              </a:lnSpc>
            </a:pPr>
            <a:r>
              <a:rPr lang="en-US" sz="18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Connect all islands using bridges</a:t>
            </a:r>
          </a:p>
          <a:p>
            <a:pPr algn="l">
              <a:lnSpc>
                <a:spcPts val="2659"/>
              </a:lnSpc>
            </a:pPr>
            <a:r>
              <a:rPr lang="en-US" sz="18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Follow strict placement rules</a:t>
            </a:r>
          </a:p>
          <a:p>
            <a:pPr algn="l">
              <a:lnSpc>
                <a:spcPts val="2659"/>
              </a:lnSpc>
            </a:pPr>
            <a:r>
              <a:rPr lang="en-US" sz="18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Form one single connected structure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endParaRPr lang="en-US" sz="18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790376" y="4943668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3"/>
                </a:lnTo>
                <a:lnTo>
                  <a:pt x="0" y="2468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909191" y="2062788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55141" y="2206851"/>
            <a:ext cx="597518" cy="103605"/>
            <a:chOff x="0" y="0"/>
            <a:chExt cx="812800" cy="1409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34767" y="3609525"/>
            <a:ext cx="9657812" cy="5051257"/>
            <a:chOff x="0" y="0"/>
            <a:chExt cx="11555452" cy="56120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555452" cy="5612050"/>
            </a:xfrm>
            <a:custGeom>
              <a:avLst/>
              <a:gdLst/>
              <a:ahLst/>
              <a:cxnLst/>
              <a:rect l="l" t="t" r="r" b="b"/>
              <a:pathLst>
                <a:path w="11555452" h="5612050">
                  <a:moveTo>
                    <a:pt x="0" y="0"/>
                  </a:moveTo>
                  <a:lnTo>
                    <a:pt x="11555452" y="0"/>
                  </a:lnTo>
                  <a:lnTo>
                    <a:pt x="11555452" y="5612050"/>
                  </a:lnTo>
                  <a:lnTo>
                    <a:pt x="0" y="561205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1555452" cy="5669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659502" y="2310456"/>
            <a:ext cx="6056321" cy="6234948"/>
          </a:xfrm>
          <a:custGeom>
            <a:avLst/>
            <a:gdLst/>
            <a:ahLst/>
            <a:cxnLst/>
            <a:rect l="l" t="t" r="r" b="b"/>
            <a:pathLst>
              <a:path w="6056321" h="6234948">
                <a:moveTo>
                  <a:pt x="0" y="0"/>
                </a:moveTo>
                <a:lnTo>
                  <a:pt x="6056321" y="0"/>
                </a:lnTo>
                <a:lnTo>
                  <a:pt x="6056321" y="6234948"/>
                </a:lnTo>
                <a:lnTo>
                  <a:pt x="0" y="623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55141" y="2377131"/>
            <a:ext cx="6291952" cy="92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ABOUT  GAME RULES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30644" y="4274537"/>
            <a:ext cx="7537859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3499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Bridges can be only horizontal or vertical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1689" y="4886518"/>
            <a:ext cx="7837511" cy="432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>
              <a:lnSpc>
                <a:spcPts val="3639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25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Bridges cannot cross each other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16494" y="5447135"/>
            <a:ext cx="796151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>
              <a:lnSpc>
                <a:spcPts val="3639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25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Maximum two bridges between any two islands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30644" y="6066042"/>
            <a:ext cx="7765865" cy="432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>
              <a:lnSpc>
                <a:spcPts val="3639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25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Each island must satisfy its exact degree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16494" y="6727714"/>
            <a:ext cx="7467600" cy="432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>
              <a:lnSpc>
                <a:spcPts val="3639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25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All Islands in the puzzle must be connected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8229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78599" y="3070867"/>
            <a:ext cx="6705600" cy="2038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 island still needs bridges but, All possible neighbors are blocked Or connecting would </a:t>
            </a:r>
          </a:p>
          <a:p>
            <a:pPr algn="ctr">
              <a:lnSpc>
                <a:spcPts val="3639"/>
              </a:lnSpc>
            </a:pPr>
            <a:r>
              <a:rPr lang="en-US" sz="25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exceed degree constraints</a:t>
            </a:r>
          </a:p>
          <a:p>
            <a:pPr algn="ctr">
              <a:lnSpc>
                <a:spcPts val="1120"/>
              </a:lnSpc>
              <a:spcBef>
                <a:spcPct val="0"/>
              </a:spcBef>
            </a:pPr>
            <a:endParaRPr lang="en-US" sz="25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273874" y="4837393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4" y="0"/>
                </a:lnTo>
                <a:lnTo>
                  <a:pt x="1565934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861098" y="3846086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129063" y="3866443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4" y="0"/>
                </a:lnTo>
                <a:lnTo>
                  <a:pt x="1565934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8845241" y="1988200"/>
            <a:ext cx="597518" cy="103605"/>
            <a:chOff x="0" y="0"/>
            <a:chExt cx="812800" cy="14093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3381551" y="1277185"/>
            <a:ext cx="4828873" cy="5383708"/>
          </a:xfrm>
          <a:custGeom>
            <a:avLst/>
            <a:gdLst/>
            <a:ahLst/>
            <a:cxnLst/>
            <a:rect l="l" t="t" r="r" b="b"/>
            <a:pathLst>
              <a:path w="6070895" h="6356958">
                <a:moveTo>
                  <a:pt x="0" y="0"/>
                </a:moveTo>
                <a:lnTo>
                  <a:pt x="6070895" y="0"/>
                </a:lnTo>
                <a:lnTo>
                  <a:pt x="6070895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9108" y="8513211"/>
            <a:ext cx="15676715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Human Completes local islands greedily Blocks future necessary connections Effect AI cannot fix huan mistakes BFS later finds disconnected components or deadlocks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73874" y="1889576"/>
            <a:ext cx="6671632" cy="649949"/>
            <a:chOff x="-304001" y="-57150"/>
            <a:chExt cx="9075382" cy="884122"/>
          </a:xfrm>
        </p:grpSpPr>
        <p:sp>
          <p:nvSpPr>
            <p:cNvPr id="26" name="Freeform 26"/>
            <p:cNvSpPr/>
            <p:nvPr/>
          </p:nvSpPr>
          <p:spPr>
            <a:xfrm>
              <a:off x="-304001" y="0"/>
              <a:ext cx="8771381" cy="826972"/>
            </a:xfrm>
            <a:custGeom>
              <a:avLst/>
              <a:gdLst/>
              <a:ahLst/>
              <a:cxnLst/>
              <a:rect l="l" t="t" r="r" b="b"/>
              <a:pathLst>
                <a:path w="8771381" h="826972">
                  <a:moveTo>
                    <a:pt x="0" y="0"/>
                  </a:moveTo>
                  <a:lnTo>
                    <a:pt x="8771381" y="0"/>
                  </a:lnTo>
                  <a:lnTo>
                    <a:pt x="8771381" y="826972"/>
                  </a:lnTo>
                  <a:lnTo>
                    <a:pt x="0" y="826972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8771381" cy="884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RULE ENFORCEMENT</a:t>
              </a:r>
            </a:p>
          </p:txBody>
        </p:sp>
      </p:grpSp>
      <p:sp>
        <p:nvSpPr>
          <p:cNvPr id="29" name="Freeform 11">
            <a:extLst>
              <a:ext uri="{FF2B5EF4-FFF2-40B4-BE49-F238E27FC236}">
                <a16:creationId xmlns:a16="http://schemas.microsoft.com/office/drawing/2014/main" id="{9297E008-21A9-A768-3EC2-C1717FDC9EE3}"/>
              </a:ext>
            </a:extLst>
          </p:cNvPr>
          <p:cNvSpPr/>
          <p:nvPr/>
        </p:nvSpPr>
        <p:spPr>
          <a:xfrm>
            <a:off x="7975949" y="1277185"/>
            <a:ext cx="5182120" cy="5431334"/>
          </a:xfrm>
          <a:custGeom>
            <a:avLst/>
            <a:gdLst/>
            <a:ahLst/>
            <a:cxnLst/>
            <a:rect l="l" t="t" r="r" b="b"/>
            <a:pathLst>
              <a:path w="6055003" h="6356958">
                <a:moveTo>
                  <a:pt x="0" y="0"/>
                </a:moveTo>
                <a:lnTo>
                  <a:pt x="6055002" y="0"/>
                </a:lnTo>
                <a:lnTo>
                  <a:pt x="605500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270477" y="1028700"/>
            <a:ext cx="12017523" cy="4114800"/>
            <a:chOff x="0" y="0"/>
            <a:chExt cx="6350000" cy="2174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2174240"/>
            </a:xfrm>
            <a:custGeom>
              <a:avLst/>
              <a:gdLst/>
              <a:ahLst/>
              <a:cxnLst/>
              <a:rect l="l" t="t" r="r" b="b"/>
              <a:pathLst>
                <a:path w="6350000" h="2174240">
                  <a:moveTo>
                    <a:pt x="6350000" y="0"/>
                  </a:moveTo>
                  <a:lnTo>
                    <a:pt x="6350000" y="2174240"/>
                  </a:lnTo>
                  <a:lnTo>
                    <a:pt x="647700" y="2174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73336" b="-2161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970591" y="3909038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3" y="0"/>
                </a:lnTo>
                <a:lnTo>
                  <a:pt x="2468923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141034" y="2484093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964641" y="2778351"/>
            <a:ext cx="597518" cy="103605"/>
            <a:chOff x="0" y="0"/>
            <a:chExt cx="812800" cy="14093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64641" y="7275911"/>
            <a:ext cx="2957917" cy="155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a fully playable Hashiwokakero game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Interactive mouse-based gameplay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endParaRPr lang="en-US" sz="17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964641" y="6377962"/>
            <a:ext cx="597723" cy="59772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093153" y="6568282"/>
            <a:ext cx="340698" cy="19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03545" y="7266386"/>
            <a:ext cx="2419679" cy="211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Ensure puzzles are always solvable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becomes the visible puzzle.</a:t>
            </a:r>
          </a:p>
          <a:p>
            <a:pPr algn="l">
              <a:lnSpc>
                <a:spcPts val="1680"/>
              </a:lnSpc>
            </a:pPr>
            <a:endParaRPr lang="en-US" sz="20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1680"/>
              </a:lnSpc>
            </a:pPr>
            <a:endParaRPr lang="en-US" sz="20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endParaRPr lang="en-US" sz="20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5803545" y="6377962"/>
            <a:ext cx="597723" cy="59772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932057" y="6568282"/>
            <a:ext cx="340698" cy="19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42449" y="7266386"/>
            <a:ext cx="2957917" cy="2025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Implement an intelligent CPU opponent</a:t>
            </a: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 we design it as a rule-based + greedy algo.</a:t>
            </a: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endParaRPr lang="en-US" sz="19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9642449" y="6377962"/>
            <a:ext cx="597723" cy="597723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770961" y="6568282"/>
            <a:ext cx="340698" cy="19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481353" y="7266386"/>
            <a:ext cx="4209129" cy="232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Apply greedy algorithms meaningfully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 each step, choose the move that reduces future uncertainty the most, without violating constraints.</a:t>
            </a:r>
          </a:p>
          <a:p>
            <a:pPr algn="l">
              <a:lnSpc>
                <a:spcPts val="2799"/>
              </a:lnSpc>
            </a:pPr>
            <a:endParaRPr lang="en-US" sz="1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endParaRPr lang="en-US" sz="1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13481353" y="6377962"/>
            <a:ext cx="597723" cy="597723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3609865" y="6568282"/>
            <a:ext cx="340698" cy="19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64641" y="3845886"/>
            <a:ext cx="3838904" cy="196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“To develop a solvable Hashiwokakero game that applies graph-based modeling and greedy algorithms to implement an intelligent CPU opponent.”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7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964641" y="2963919"/>
            <a:ext cx="3858809" cy="828579"/>
            <a:chOff x="0" y="0"/>
            <a:chExt cx="5247311" cy="112672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247311" cy="1126723"/>
            </a:xfrm>
            <a:custGeom>
              <a:avLst/>
              <a:gdLst/>
              <a:ahLst/>
              <a:cxnLst/>
              <a:rect l="l" t="t" r="r" b="b"/>
              <a:pathLst>
                <a:path w="5247311" h="1126723">
                  <a:moveTo>
                    <a:pt x="0" y="0"/>
                  </a:moveTo>
                  <a:lnTo>
                    <a:pt x="5247311" y="0"/>
                  </a:lnTo>
                  <a:lnTo>
                    <a:pt x="5247311" y="1126723"/>
                  </a:lnTo>
                  <a:lnTo>
                    <a:pt x="0" y="1126723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1" name="TextBox 41"/>
            <p:cNvSpPr txBox="1"/>
            <p:nvPr/>
          </p:nvSpPr>
          <p:spPr>
            <a:xfrm>
              <a:off x="0" y="-66675"/>
              <a:ext cx="5247311" cy="1193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19"/>
                </a:lnSpc>
              </a:pPr>
              <a:r>
                <a:rPr lang="en-US" sz="32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objective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61092" y="6490617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249099" y="2671352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4" y="0"/>
                </a:lnTo>
                <a:lnTo>
                  <a:pt x="1565934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0982851" y="2425868"/>
            <a:ext cx="597518" cy="103605"/>
            <a:chOff x="0" y="0"/>
            <a:chExt cx="812800" cy="1409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823415" y="4217596"/>
            <a:ext cx="834206" cy="668668"/>
            <a:chOff x="0" y="0"/>
            <a:chExt cx="1134375" cy="9092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4376" cy="909273"/>
            </a:xfrm>
            <a:custGeom>
              <a:avLst/>
              <a:gdLst/>
              <a:ahLst/>
              <a:cxnLst/>
              <a:rect l="l" t="t" r="r" b="b"/>
              <a:pathLst>
                <a:path w="1134376" h="909273">
                  <a:moveTo>
                    <a:pt x="0" y="0"/>
                  </a:moveTo>
                  <a:lnTo>
                    <a:pt x="1134376" y="0"/>
                  </a:lnTo>
                  <a:lnTo>
                    <a:pt x="1134376" y="909273"/>
                  </a:lnTo>
                  <a:lnTo>
                    <a:pt x="0" y="909273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134375" cy="956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823415" y="6917955"/>
            <a:ext cx="834206" cy="807124"/>
            <a:chOff x="0" y="0"/>
            <a:chExt cx="1134375" cy="10975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34376" cy="1097549"/>
            </a:xfrm>
            <a:custGeom>
              <a:avLst/>
              <a:gdLst/>
              <a:ahLst/>
              <a:cxnLst/>
              <a:rect l="l" t="t" r="r" b="b"/>
              <a:pathLst>
                <a:path w="1134376" h="1097549">
                  <a:moveTo>
                    <a:pt x="0" y="0"/>
                  </a:moveTo>
                  <a:lnTo>
                    <a:pt x="1134376" y="0"/>
                  </a:lnTo>
                  <a:lnTo>
                    <a:pt x="1134376" y="1097549"/>
                  </a:lnTo>
                  <a:lnTo>
                    <a:pt x="0" y="1097549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34375" cy="1135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61092" y="1997359"/>
            <a:ext cx="6588776" cy="6292281"/>
          </a:xfrm>
          <a:custGeom>
            <a:avLst/>
            <a:gdLst/>
            <a:ahLst/>
            <a:cxnLst/>
            <a:rect l="l" t="t" r="r" b="b"/>
            <a:pathLst>
              <a:path w="6588776" h="6292281">
                <a:moveTo>
                  <a:pt x="0" y="0"/>
                </a:moveTo>
                <a:lnTo>
                  <a:pt x="6588777" y="0"/>
                </a:lnTo>
                <a:lnTo>
                  <a:pt x="6588777" y="6292282"/>
                </a:lnTo>
                <a:lnTo>
                  <a:pt x="0" y="62922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07138" y="4189021"/>
            <a:ext cx="5882101" cy="1603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Human </a:t>
            </a:r>
            <a:r>
              <a:rPr lang="en-US" sz="2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vs</a:t>
            </a: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CPU turn-based gameplay</a:t>
            </a:r>
          </a:p>
          <a:p>
            <a:pPr algn="l">
              <a:lnSpc>
                <a:spcPts val="2519"/>
              </a:lnSpc>
            </a:pP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Mouse-drag interaction for bridges</a:t>
            </a:r>
          </a:p>
          <a:p>
            <a:pPr algn="l">
              <a:lnSpc>
                <a:spcPts val="2519"/>
              </a:lnSpc>
            </a:pP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Color-based visual feedback</a:t>
            </a:r>
          </a:p>
          <a:p>
            <a:pPr algn="l">
              <a:lnSpc>
                <a:spcPts val="2519"/>
              </a:lnSpc>
            </a:pP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Undo, restart, and solve options.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endParaRPr lang="en-US" sz="16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070169" y="4433864"/>
            <a:ext cx="340698" cy="257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07139" y="6811314"/>
            <a:ext cx="5750258" cy="1526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Design Focus Strict rule enforcement</a:t>
            </a:r>
          </a:p>
          <a:p>
            <a:pPr algn="l">
              <a:lnSpc>
                <a:spcPts val="2659"/>
              </a:lnSpc>
            </a:pP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 every step of the game for a  Smooth experience.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1899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070169" y="7203451"/>
            <a:ext cx="340698" cy="257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135032" y="2629339"/>
            <a:ext cx="8473409" cy="906352"/>
            <a:chOff x="-662949" y="-57150"/>
            <a:chExt cx="11526328" cy="1232906"/>
          </a:xfrm>
        </p:grpSpPr>
        <p:sp>
          <p:nvSpPr>
            <p:cNvPr id="28" name="Freeform 28"/>
            <p:cNvSpPr/>
            <p:nvPr/>
          </p:nvSpPr>
          <p:spPr>
            <a:xfrm>
              <a:off x="-662949" y="18665"/>
              <a:ext cx="10863380" cy="1157091"/>
            </a:xfrm>
            <a:custGeom>
              <a:avLst/>
              <a:gdLst/>
              <a:ahLst/>
              <a:cxnLst/>
              <a:rect l="l" t="t" r="r" b="b"/>
              <a:pathLst>
                <a:path w="10863380" h="1157091">
                  <a:moveTo>
                    <a:pt x="0" y="0"/>
                  </a:moveTo>
                  <a:lnTo>
                    <a:pt x="10863380" y="0"/>
                  </a:lnTo>
                  <a:lnTo>
                    <a:pt x="10863380" y="1157091"/>
                  </a:lnTo>
                  <a:lnTo>
                    <a:pt x="0" y="1157091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0863379" cy="1214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r>
                <a:rPr lang="en-US" sz="28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GAME DESIGN OVERVIEW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205578" y="3102449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3" y="0"/>
                </a:lnTo>
                <a:lnTo>
                  <a:pt x="2468923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305162" y="8266035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2148383" y="2104921"/>
            <a:ext cx="597518" cy="103605"/>
            <a:chOff x="0" y="0"/>
            <a:chExt cx="812800" cy="1409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195624" y="4144427"/>
            <a:ext cx="4424376" cy="1363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Graph Modeling</a:t>
            </a:r>
          </a:p>
          <a:p>
            <a:pPr algn="l">
              <a:lnSpc>
                <a:spcPts val="2659"/>
              </a:lnSpc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Islands → Vertices (Nodes)</a:t>
            </a:r>
          </a:p>
          <a:p>
            <a:pPr algn="l">
              <a:lnSpc>
                <a:spcPts val="2659"/>
              </a:lnSpc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 → Undirected Edges</a:t>
            </a:r>
          </a:p>
          <a:p>
            <a:pPr algn="l">
              <a:lnSpc>
                <a:spcPts val="2659"/>
              </a:lnSpc>
            </a:pP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2148383" y="4182527"/>
            <a:ext cx="597723" cy="59772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276895" y="4363323"/>
            <a:ext cx="340698" cy="240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93874" y="6932901"/>
            <a:ext cx="5950126" cy="1756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Graph Representation?</a:t>
            </a:r>
          </a:p>
          <a:p>
            <a:pPr algn="l">
              <a:lnSpc>
                <a:spcPts val="2379"/>
              </a:lnSpc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Degree constraint → vertex degree</a:t>
            </a:r>
          </a:p>
          <a:p>
            <a:pPr algn="l">
              <a:lnSpc>
                <a:spcPts val="2379"/>
              </a:lnSpc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Connectivity → graph traversal</a:t>
            </a:r>
          </a:p>
          <a:p>
            <a:pPr algn="l">
              <a:lnSpc>
                <a:spcPts val="2379"/>
              </a:lnSpc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 solution → connected graph with exact degrees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endParaRPr lang="en-US" sz="16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978033" y="6961476"/>
            <a:ext cx="597723" cy="59772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106443" y="7142271"/>
            <a:ext cx="340698" cy="240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65126" y="4429998"/>
            <a:ext cx="10057195" cy="151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8"/>
              </a:lnSpc>
            </a:pPr>
            <a:r>
              <a:rPr lang="en-US" sz="42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GRAPH  ALGORITHM FUNCTIONS</a:t>
            </a:r>
          </a:p>
          <a:p>
            <a:pPr algn="l">
              <a:lnSpc>
                <a:spcPts val="7084"/>
              </a:lnSpc>
            </a:pPr>
            <a:endParaRPr lang="en-US" sz="4200" b="1">
              <a:solidFill>
                <a:srgbClr val="FFFFFF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786083" y="5312836"/>
            <a:ext cx="4707639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buildAdjacencyList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()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isConnected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()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computeComponents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</a:p>
          <a:p>
            <a:pPr algn="l">
              <a:lnSpc>
                <a:spcPts val="2659"/>
              </a:lnSpc>
            </a:pPr>
            <a:endParaRPr lang="en-US" sz="24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58400" y="6748571"/>
            <a:ext cx="419100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24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BridgesAdvanced</a:t>
            </a: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2095337" y="2322642"/>
            <a:ext cx="8665417" cy="850235"/>
            <a:chOff x="0" y="0"/>
            <a:chExt cx="11787515" cy="115657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787515" cy="1156570"/>
            </a:xfrm>
            <a:custGeom>
              <a:avLst/>
              <a:gdLst/>
              <a:ahLst/>
              <a:cxnLst/>
              <a:rect l="l" t="t" r="r" b="b"/>
              <a:pathLst>
                <a:path w="11787515" h="1156570">
                  <a:moveTo>
                    <a:pt x="0" y="0"/>
                  </a:moveTo>
                  <a:lnTo>
                    <a:pt x="11787515" y="0"/>
                  </a:lnTo>
                  <a:lnTo>
                    <a:pt x="11787515" y="1156570"/>
                  </a:lnTo>
                  <a:lnTo>
                    <a:pt x="0" y="115657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1787515" cy="1204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GRAPH REPRESENTATION OF THE GAME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63935" y="2592139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149889" y="7483068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4" y="0"/>
                </a:lnTo>
                <a:lnTo>
                  <a:pt x="1565934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8397" y="3069967"/>
            <a:ext cx="7098918" cy="363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 Classes in Code</a:t>
            </a:r>
          </a:p>
          <a:p>
            <a:pPr algn="l">
              <a:lnSpc>
                <a:spcPts val="4199"/>
              </a:lnSpc>
            </a:pPr>
            <a:endParaRPr lang="en-US" sz="29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Island → represents a graph vertex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 → represents a graph edge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Move → represents a CPU candidate action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670617" y="6470763"/>
            <a:ext cx="4428538" cy="586831"/>
            <a:chOff x="0" y="0"/>
            <a:chExt cx="6024115" cy="7982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024114" cy="798263"/>
            </a:xfrm>
            <a:custGeom>
              <a:avLst/>
              <a:gdLst/>
              <a:ahLst/>
              <a:cxnLst/>
              <a:rect l="l" t="t" r="r" b="b"/>
              <a:pathLst>
                <a:path w="6024114" h="798263">
                  <a:moveTo>
                    <a:pt x="0" y="0"/>
                  </a:moveTo>
                  <a:lnTo>
                    <a:pt x="6024114" y="0"/>
                  </a:lnTo>
                  <a:lnTo>
                    <a:pt x="6024114" y="798263"/>
                  </a:lnTo>
                  <a:lnTo>
                    <a:pt x="0" y="798263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6024115" cy="855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Function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57492" y="7302411"/>
            <a:ext cx="395750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mousePressed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MouseEvent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0618" y="7587526"/>
            <a:ext cx="4272982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mouseReleased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MouseEvent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32390" y="7872641"/>
            <a:ext cx="405881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mouseDragged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MouseEvent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32390" y="8163508"/>
            <a:ext cx="398261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mouseClicked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MouseEvent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32390" y="8443506"/>
            <a:ext cx="405881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mouseEntered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MouseEvent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32390" y="8689423"/>
            <a:ext cx="3815466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mouseExited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MouseEvent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32390" y="9010902"/>
            <a:ext cx="3815466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mouseMoved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MouseEvent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e)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670617" y="1953573"/>
            <a:ext cx="6922137" cy="629041"/>
            <a:chOff x="0" y="0"/>
            <a:chExt cx="9416143" cy="85568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416143" cy="855681"/>
            </a:xfrm>
            <a:custGeom>
              <a:avLst/>
              <a:gdLst/>
              <a:ahLst/>
              <a:cxnLst/>
              <a:rect l="l" t="t" r="r" b="b"/>
              <a:pathLst>
                <a:path w="9416143" h="855681">
                  <a:moveTo>
                    <a:pt x="0" y="0"/>
                  </a:moveTo>
                  <a:lnTo>
                    <a:pt x="9416143" y="0"/>
                  </a:lnTo>
                  <a:lnTo>
                    <a:pt x="9416143" y="855681"/>
                  </a:lnTo>
                  <a:lnTo>
                    <a:pt x="0" y="855681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9416143" cy="912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CORE DATA STRUCTURES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175496" y="5919376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3" y="0"/>
                </a:lnTo>
                <a:lnTo>
                  <a:pt x="2468923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221790" y="2240589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179710" y="2764256"/>
            <a:ext cx="6631117" cy="1821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PUZZLE GENERATION LOGIC</a:t>
            </a:r>
          </a:p>
          <a:p>
            <a:pPr algn="l">
              <a:lnSpc>
                <a:spcPts val="7084"/>
              </a:lnSpc>
            </a:pPr>
            <a:endParaRPr lang="en-US" sz="6499" b="1">
              <a:solidFill>
                <a:srgbClr val="FFFFFF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79710" y="2593976"/>
            <a:ext cx="597518" cy="103605"/>
            <a:chOff x="0" y="0"/>
            <a:chExt cx="812800" cy="1409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77083" y="4474002"/>
            <a:ext cx="597518" cy="597518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77083" y="5321858"/>
            <a:ext cx="597518" cy="597518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977083" y="6249512"/>
            <a:ext cx="597518" cy="597518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003368" y="7247214"/>
            <a:ext cx="597518" cy="597518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0358864" y="3121787"/>
            <a:ext cx="6356958" cy="6136513"/>
          </a:xfrm>
          <a:custGeom>
            <a:avLst/>
            <a:gdLst/>
            <a:ahLst/>
            <a:cxnLst/>
            <a:rect l="l" t="t" r="r" b="b"/>
            <a:pathLst>
              <a:path w="6356958" h="6136513">
                <a:moveTo>
                  <a:pt x="0" y="0"/>
                </a:moveTo>
                <a:lnTo>
                  <a:pt x="6356959" y="0"/>
                </a:lnTo>
                <a:lnTo>
                  <a:pt x="6356959" y="6136513"/>
                </a:lnTo>
                <a:lnTo>
                  <a:pt x="0" y="61365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3592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95827" y="5477895"/>
            <a:ext cx="5915000" cy="771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3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spanning structure for connectivity</a:t>
            </a:r>
          </a:p>
          <a:p>
            <a:pPr algn="l">
              <a:lnSpc>
                <a:spcPts val="2934"/>
              </a:lnSpc>
              <a:spcBef>
                <a:spcPct val="0"/>
              </a:spcBef>
            </a:pPr>
            <a:endParaRPr lang="en-US" sz="2396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895827" y="6386697"/>
            <a:ext cx="4825453" cy="86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 extra bridges for complexity</a:t>
            </a:r>
          </a:p>
          <a:p>
            <a:pPr algn="l">
              <a:lnSpc>
                <a:spcPts val="3494"/>
              </a:lnSpc>
              <a:spcBef>
                <a:spcPct val="0"/>
              </a:spcBef>
            </a:pPr>
            <a:endParaRPr lang="en-US" sz="2496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895827" y="7302612"/>
            <a:ext cx="5325963" cy="79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Compute required degrees</a:t>
            </a:r>
          </a:p>
          <a:p>
            <a:pPr algn="l">
              <a:lnSpc>
                <a:spcPts val="2934"/>
              </a:lnSpc>
              <a:spcBef>
                <a:spcPct val="0"/>
              </a:spcBef>
            </a:pPr>
            <a:endParaRPr lang="en-US" sz="2496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895827" y="4537811"/>
            <a:ext cx="4275363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Random island placement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43997" y="4585014"/>
            <a:ext cx="263689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43997" y="7391351"/>
            <a:ext cx="26368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43997" y="5435442"/>
            <a:ext cx="263689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143997" y="6393648"/>
            <a:ext cx="263689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05330" y="1310903"/>
            <a:ext cx="5325963" cy="1170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496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generatePuzzle</a:t>
            </a:r>
            <a:r>
              <a:rPr lang="en-US" sz="2496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</a:p>
          <a:p>
            <a:pPr algn="l">
              <a:lnSpc>
                <a:spcPts val="2934"/>
              </a:lnSpc>
            </a:pPr>
            <a:endParaRPr lang="en-US" sz="2496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934"/>
              </a:lnSpc>
              <a:spcBef>
                <a:spcPct val="0"/>
              </a:spcBef>
            </a:pPr>
            <a:endParaRPr lang="en-US" sz="2496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10405330" y="658015"/>
            <a:ext cx="2178804" cy="597518"/>
            <a:chOff x="0" y="0"/>
            <a:chExt cx="2963814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963814" cy="812800"/>
            </a:xfrm>
            <a:custGeom>
              <a:avLst/>
              <a:gdLst/>
              <a:ahLst/>
              <a:cxnLst/>
              <a:rect l="l" t="t" r="r" b="b"/>
              <a:pathLst>
                <a:path w="2963814" h="812800">
                  <a:moveTo>
                    <a:pt x="0" y="0"/>
                  </a:moveTo>
                  <a:lnTo>
                    <a:pt x="2963814" y="0"/>
                  </a:lnTo>
                  <a:lnTo>
                    <a:pt x="2963814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2963814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FUNCTION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34600" y="1778000"/>
            <a:ext cx="2933711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showSolution</a:t>
            </a: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287001" y="2171700"/>
            <a:ext cx="2718356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restartPuzzle</a:t>
            </a: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id="10" name="Freeform 10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996730" y="2404219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1" y="0"/>
                </a:lnTo>
                <a:lnTo>
                  <a:pt x="7882781" y="7882781"/>
                </a:lnTo>
                <a:lnTo>
                  <a:pt x="0" y="7882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-3085863" y="1966716"/>
            <a:ext cx="14165185" cy="2127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GREEDY CPU OVERVIEW</a:t>
            </a:r>
          </a:p>
          <a:p>
            <a:pPr algn="ctr">
              <a:lnSpc>
                <a:spcPts val="8539"/>
              </a:lnSpc>
              <a:spcBef>
                <a:spcPct val="0"/>
              </a:spcBef>
            </a:pPr>
            <a:endParaRPr lang="en-US" sz="6099" b="1">
              <a:solidFill>
                <a:srgbClr val="FFFFFF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08790" y="4641592"/>
            <a:ext cx="3421063" cy="2066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Fully deterministic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Rule-compliant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randomness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backtracking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3413322"/>
            <a:ext cx="4381242" cy="597518"/>
            <a:chOff x="0" y="0"/>
            <a:chExt cx="5959777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59777" cy="812800"/>
            </a:xfrm>
            <a:custGeom>
              <a:avLst/>
              <a:gdLst/>
              <a:ahLst/>
              <a:cxnLst/>
              <a:rect l="l" t="t" r="r" b="b"/>
              <a:pathLst>
                <a:path w="5959777" h="812800">
                  <a:moveTo>
                    <a:pt x="0" y="0"/>
                  </a:moveTo>
                  <a:lnTo>
                    <a:pt x="5959777" y="0"/>
                  </a:lnTo>
                  <a:lnTo>
                    <a:pt x="5959777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95977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CPU Characteristics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842882" y="8813182"/>
            <a:ext cx="597518" cy="56898"/>
            <a:chOff x="0" y="0"/>
            <a:chExt cx="812800" cy="773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7399"/>
            </a:xfrm>
            <a:custGeom>
              <a:avLst/>
              <a:gdLst/>
              <a:ahLst/>
              <a:cxnLst/>
              <a:rect l="l" t="t" r="r" b="b"/>
              <a:pathLst>
                <a:path w="812800" h="77399">
                  <a:moveTo>
                    <a:pt x="0" y="0"/>
                  </a:moveTo>
                  <a:lnTo>
                    <a:pt x="812800" y="0"/>
                  </a:lnTo>
                  <a:lnTo>
                    <a:pt x="812800" y="77399"/>
                  </a:lnTo>
                  <a:lnTo>
                    <a:pt x="0" y="77399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115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01721" y="3533931"/>
            <a:ext cx="4475970" cy="597518"/>
            <a:chOff x="0" y="0"/>
            <a:chExt cx="6088635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088635" cy="812800"/>
            </a:xfrm>
            <a:custGeom>
              <a:avLst/>
              <a:gdLst/>
              <a:ahLst/>
              <a:cxnLst/>
              <a:rect l="l" t="t" r="r" b="b"/>
              <a:pathLst>
                <a:path w="6088635" h="812800">
                  <a:moveTo>
                    <a:pt x="0" y="0"/>
                  </a:moveTo>
                  <a:lnTo>
                    <a:pt x="6088635" y="0"/>
                  </a:lnTo>
                  <a:lnTo>
                    <a:pt x="608863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608863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FUNCTIONS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589160" y="4641592"/>
            <a:ext cx="4354679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Constraints are irreversible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Early wrong moves cause dead ends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Greedy makes safe local decisions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765208" y="3565722"/>
            <a:ext cx="3695442" cy="565726"/>
            <a:chOff x="0" y="0"/>
            <a:chExt cx="5026888" cy="76955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26888" cy="769554"/>
            </a:xfrm>
            <a:custGeom>
              <a:avLst/>
              <a:gdLst/>
              <a:ahLst/>
              <a:cxnLst/>
              <a:rect l="l" t="t" r="r" b="b"/>
              <a:pathLst>
                <a:path w="5026888" h="769554">
                  <a:moveTo>
                    <a:pt x="0" y="0"/>
                  </a:moveTo>
                  <a:lnTo>
                    <a:pt x="5026888" y="0"/>
                  </a:lnTo>
                  <a:lnTo>
                    <a:pt x="5026888" y="769554"/>
                  </a:lnTo>
                  <a:lnTo>
                    <a:pt x="0" y="76955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5026888" cy="817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Why Greedy?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494928" y="4651117"/>
            <a:ext cx="3298144" cy="2605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makeAIMove()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addBridgeForAI()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getBridgeCount(Island i)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computeComponents()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canConnect()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236544" y="4719392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0" y="0"/>
                </a:lnTo>
                <a:lnTo>
                  <a:pt x="7882780" y="7882781"/>
                </a:lnTo>
                <a:lnTo>
                  <a:pt x="0" y="7882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82609" y="3953549"/>
            <a:ext cx="8261391" cy="3798798"/>
          </a:xfrm>
          <a:custGeom>
            <a:avLst/>
            <a:gdLst/>
            <a:ahLst/>
            <a:cxnLst/>
            <a:rect l="l" t="t" r="r" b="b"/>
            <a:pathLst>
              <a:path w="8261391" h="3798798">
                <a:moveTo>
                  <a:pt x="0" y="0"/>
                </a:moveTo>
                <a:lnTo>
                  <a:pt x="8261391" y="0"/>
                </a:lnTo>
                <a:lnTo>
                  <a:pt x="8261391" y="3798798"/>
                </a:lnTo>
                <a:lnTo>
                  <a:pt x="0" y="37987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3215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857396" y="8841506"/>
            <a:ext cx="263689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71946" y="4486910"/>
            <a:ext cx="4487354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Prefer edges connecting different components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Improves global connectivity early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2712520" y="3209005"/>
            <a:ext cx="4546780" cy="852781"/>
            <a:chOff x="0" y="0"/>
            <a:chExt cx="6184958" cy="116003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184958" cy="1160033"/>
            </a:xfrm>
            <a:custGeom>
              <a:avLst/>
              <a:gdLst/>
              <a:ahLst/>
              <a:cxnLst/>
              <a:rect l="l" t="t" r="r" b="b"/>
              <a:pathLst>
                <a:path w="6184958" h="1160033">
                  <a:moveTo>
                    <a:pt x="0" y="0"/>
                  </a:moveTo>
                  <a:lnTo>
                    <a:pt x="6184958" y="0"/>
                  </a:lnTo>
                  <a:lnTo>
                    <a:pt x="6184958" y="1160033"/>
                  </a:lnTo>
                  <a:lnTo>
                    <a:pt x="0" y="1160033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184958" cy="120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Borůvka Principle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48211" y="1908281"/>
            <a:ext cx="6107566" cy="852781"/>
            <a:chOff x="0" y="0"/>
            <a:chExt cx="8308086" cy="11600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308086" cy="1160033"/>
            </a:xfrm>
            <a:custGeom>
              <a:avLst/>
              <a:gdLst/>
              <a:ahLst/>
              <a:cxnLst/>
              <a:rect l="l" t="t" r="r" b="b"/>
              <a:pathLst>
                <a:path w="8308086" h="1160033">
                  <a:moveTo>
                    <a:pt x="0" y="0"/>
                  </a:moveTo>
                  <a:lnTo>
                    <a:pt x="8308086" y="0"/>
                  </a:lnTo>
                  <a:lnTo>
                    <a:pt x="8308086" y="1160033"/>
                  </a:lnTo>
                  <a:lnTo>
                    <a:pt x="0" y="1160033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8308086" cy="1217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GREEDY HEURISTIC &amp; BORŮVKA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85619" y="884308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1" y="0"/>
                </a:lnTo>
                <a:lnTo>
                  <a:pt x="7882781" y="7882781"/>
                </a:lnTo>
                <a:lnTo>
                  <a:pt x="0" y="7882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1481890"/>
            <a:ext cx="6107566" cy="852781"/>
            <a:chOff x="0" y="0"/>
            <a:chExt cx="8308086" cy="11600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308086" cy="1160033"/>
            </a:xfrm>
            <a:custGeom>
              <a:avLst/>
              <a:gdLst/>
              <a:ahLst/>
              <a:cxnLst/>
              <a:rect l="l" t="t" r="r" b="b"/>
              <a:pathLst>
                <a:path w="8308086" h="1160033">
                  <a:moveTo>
                    <a:pt x="0" y="0"/>
                  </a:moveTo>
                  <a:lnTo>
                    <a:pt x="8308086" y="0"/>
                  </a:lnTo>
                  <a:lnTo>
                    <a:pt x="8308086" y="1160033"/>
                  </a:lnTo>
                  <a:lnTo>
                    <a:pt x="0" y="1160033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308086" cy="1217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GRAPH ALGORITHMS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49064" y="5876484"/>
            <a:ext cx="4863472" cy="852781"/>
            <a:chOff x="0" y="0"/>
            <a:chExt cx="6615752" cy="11600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5752" cy="1160033"/>
            </a:xfrm>
            <a:custGeom>
              <a:avLst/>
              <a:gdLst/>
              <a:ahLst/>
              <a:cxnLst/>
              <a:rect l="l" t="t" r="r" b="b"/>
              <a:pathLst>
                <a:path w="6615752" h="1160033">
                  <a:moveTo>
                    <a:pt x="0" y="0"/>
                  </a:moveTo>
                  <a:lnTo>
                    <a:pt x="6615752" y="0"/>
                  </a:lnTo>
                  <a:lnTo>
                    <a:pt x="6615752" y="1160033"/>
                  </a:lnTo>
                  <a:lnTo>
                    <a:pt x="0" y="1160033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6615752" cy="1217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Purpose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990602" y="1908281"/>
            <a:ext cx="4428538" cy="852781"/>
            <a:chOff x="0" y="0"/>
            <a:chExt cx="6024115" cy="11600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24114" cy="1160033"/>
            </a:xfrm>
            <a:custGeom>
              <a:avLst/>
              <a:gdLst/>
              <a:ahLst/>
              <a:cxnLst/>
              <a:rect l="l" t="t" r="r" b="b"/>
              <a:pathLst>
                <a:path w="6024114" h="1160033">
                  <a:moveTo>
                    <a:pt x="0" y="0"/>
                  </a:moveTo>
                  <a:lnTo>
                    <a:pt x="6024114" y="0"/>
                  </a:lnTo>
                  <a:lnTo>
                    <a:pt x="6024114" y="1160033"/>
                  </a:lnTo>
                  <a:lnTo>
                    <a:pt x="0" y="1160033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6024115" cy="1217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Function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3935" y="2606373"/>
            <a:ext cx="6833729" cy="319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Breadth-First Search (BFS)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Connected Component Detection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“The puzzle is modeled as a graph where BFS ensures connectivity and identifies components for rule checking and CPU strategy.”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599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999215" y="3410282"/>
            <a:ext cx="2697985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isConnected</a:t>
            </a:r>
            <a:r>
              <a:rPr lang="en-US" sz="2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02127" y="7218433"/>
            <a:ext cx="4626868" cy="941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 connectivity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Guide CPU decision-making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77801" y="4013533"/>
            <a:ext cx="426720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computeComponents</a:t>
            </a:r>
            <a:r>
              <a:rPr lang="en-US" sz="2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99214" y="4607258"/>
            <a:ext cx="3612385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buildAdjacencyList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95444" y="5318537"/>
            <a:ext cx="394839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getBridgeCount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(Island i)</a:t>
            </a:r>
          </a:p>
        </p:txBody>
      </p:sp>
      <p:sp>
        <p:nvSpPr>
          <p:cNvPr id="22" name="Freeform 22"/>
          <p:cNvSpPr/>
          <p:nvPr/>
        </p:nvSpPr>
        <p:spPr>
          <a:xfrm flipH="1" flipV="1">
            <a:off x="174884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2610" y="4306842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0" y="0"/>
                </a:lnTo>
                <a:lnTo>
                  <a:pt x="7882780" y="7882781"/>
                </a:lnTo>
                <a:lnTo>
                  <a:pt x="0" y="7882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52780" y="6638047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48211" y="1908281"/>
            <a:ext cx="6107566" cy="852781"/>
            <a:chOff x="0" y="0"/>
            <a:chExt cx="8308086" cy="11600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308086" cy="1160033"/>
            </a:xfrm>
            <a:custGeom>
              <a:avLst/>
              <a:gdLst/>
              <a:ahLst/>
              <a:cxnLst/>
              <a:rect l="l" t="t" r="r" b="b"/>
              <a:pathLst>
                <a:path w="8308086" h="1160033">
                  <a:moveTo>
                    <a:pt x="0" y="0"/>
                  </a:moveTo>
                  <a:lnTo>
                    <a:pt x="8308086" y="0"/>
                  </a:lnTo>
                  <a:lnTo>
                    <a:pt x="8308086" y="1160033"/>
                  </a:lnTo>
                  <a:lnTo>
                    <a:pt x="0" y="1160033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308086" cy="1217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BFS CONNECTIVITY CHECK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25702" y="3503132"/>
            <a:ext cx="5152582" cy="2066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Start BFS from any island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Visit all reachable islands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Compare visited count with total islands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42067" y="7411784"/>
            <a:ext cx="313213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buildAdjacencyList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 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isConnected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893866" y="6360633"/>
            <a:ext cx="4428538" cy="852781"/>
            <a:chOff x="0" y="0"/>
            <a:chExt cx="6024115" cy="11600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024114" cy="1160033"/>
            </a:xfrm>
            <a:custGeom>
              <a:avLst/>
              <a:gdLst/>
              <a:ahLst/>
              <a:cxnLst/>
              <a:rect l="l" t="t" r="r" b="b"/>
              <a:pathLst>
                <a:path w="6024114" h="1160033">
                  <a:moveTo>
                    <a:pt x="0" y="0"/>
                  </a:moveTo>
                  <a:lnTo>
                    <a:pt x="6024114" y="0"/>
                  </a:lnTo>
                  <a:lnTo>
                    <a:pt x="6024114" y="1160033"/>
                  </a:lnTo>
                  <a:lnTo>
                    <a:pt x="0" y="1160033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6024115" cy="1217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Functions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981189" y="2703912"/>
            <a:ext cx="6962650" cy="2369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Islands are modeled as graph vertices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Bridges act as undirected edges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BFS traversal visits all reachable islands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Puzzle is valid only if all islands are connected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48388" y="5086350"/>
            <a:ext cx="6695452" cy="941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BFS guarantees that the Hashiwokakero puzzle forms a single connected graph.”</a:t>
            </a:r>
          </a:p>
        </p:txBody>
      </p:sp>
      <p:sp>
        <p:nvSpPr>
          <p:cNvPr id="15" name="Freeform 15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663206" y="8232522"/>
            <a:ext cx="2487133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isSolved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2610" y="3563061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0" y="0"/>
                </a:lnTo>
                <a:lnTo>
                  <a:pt x="7882780" y="7882781"/>
                </a:lnTo>
                <a:lnTo>
                  <a:pt x="0" y="7882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824174"/>
            <a:ext cx="6914459" cy="852781"/>
            <a:chOff x="0" y="0"/>
            <a:chExt cx="9405698" cy="11600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05698" cy="1160033"/>
            </a:xfrm>
            <a:custGeom>
              <a:avLst/>
              <a:gdLst/>
              <a:ahLst/>
              <a:cxnLst/>
              <a:rect l="l" t="t" r="r" b="b"/>
              <a:pathLst>
                <a:path w="9405698" h="1160033">
                  <a:moveTo>
                    <a:pt x="0" y="0"/>
                  </a:moveTo>
                  <a:lnTo>
                    <a:pt x="9405698" y="0"/>
                  </a:lnTo>
                  <a:lnTo>
                    <a:pt x="9405698" y="1160033"/>
                  </a:lnTo>
                  <a:lnTo>
                    <a:pt x="0" y="1160033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405698" cy="1217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SOLUTION VERIFICATION CONDITIONS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219687" y="1397783"/>
            <a:ext cx="4859528" cy="852781"/>
            <a:chOff x="0" y="0"/>
            <a:chExt cx="6610387" cy="11600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10387" cy="1160033"/>
            </a:xfrm>
            <a:custGeom>
              <a:avLst/>
              <a:gdLst/>
              <a:ahLst/>
              <a:cxnLst/>
              <a:rect l="l" t="t" r="r" b="b"/>
              <a:pathLst>
                <a:path w="6610387" h="1160033">
                  <a:moveTo>
                    <a:pt x="0" y="0"/>
                  </a:moveTo>
                  <a:lnTo>
                    <a:pt x="6610387" y="0"/>
                  </a:lnTo>
                  <a:lnTo>
                    <a:pt x="6610387" y="1160033"/>
                  </a:lnTo>
                  <a:lnTo>
                    <a:pt x="0" y="1160033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6610387" cy="1217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Methods Used 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355063" y="3562377"/>
            <a:ext cx="6588776" cy="6292281"/>
          </a:xfrm>
          <a:custGeom>
            <a:avLst/>
            <a:gdLst/>
            <a:ahLst/>
            <a:cxnLst/>
            <a:rect l="l" t="t" r="r" b="b"/>
            <a:pathLst>
              <a:path w="6588776" h="6292281">
                <a:moveTo>
                  <a:pt x="0" y="0"/>
                </a:moveTo>
                <a:lnTo>
                  <a:pt x="6588776" y="0"/>
                </a:lnTo>
                <a:lnTo>
                  <a:pt x="6588776" y="6292282"/>
                </a:lnTo>
                <a:lnTo>
                  <a:pt x="0" y="6292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48904" y="3749373"/>
            <a:ext cx="5536498" cy="214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Puzzle is Solved If: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endParaRPr lang="en-US" sz="26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Graph is fully connected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Every island’s degree equals its required value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58460" y="2488006"/>
            <a:ext cx="3157739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isConnected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getBridgeCount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6954" y="6660893"/>
            <a:ext cx="4220399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“Solution verification ensures all islands are connected and each island’s bridge count matches its number.”</a:t>
            </a:r>
          </a:p>
        </p:txBody>
      </p:sp>
      <p:sp>
        <p:nvSpPr>
          <p:cNvPr id="15" name="Freeform 15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00805" y="4007654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0" y="0"/>
                </a:lnTo>
                <a:lnTo>
                  <a:pt x="7882780" y="7882781"/>
                </a:lnTo>
                <a:lnTo>
                  <a:pt x="0" y="7882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41487" y="1340894"/>
            <a:ext cx="7246105" cy="1044031"/>
            <a:chOff x="0" y="0"/>
            <a:chExt cx="9856833" cy="14201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56833" cy="1420190"/>
            </a:xfrm>
            <a:custGeom>
              <a:avLst/>
              <a:gdLst/>
              <a:ahLst/>
              <a:cxnLst/>
              <a:rect l="l" t="t" r="r" b="b"/>
              <a:pathLst>
                <a:path w="9856833" h="1420190">
                  <a:moveTo>
                    <a:pt x="0" y="0"/>
                  </a:moveTo>
                  <a:lnTo>
                    <a:pt x="9856833" y="0"/>
                  </a:lnTo>
                  <a:lnTo>
                    <a:pt x="9856833" y="1420190"/>
                  </a:lnTo>
                  <a:lnTo>
                    <a:pt x="0" y="142019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9856833" cy="1477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PROOF OF CORRECTNESS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301364" y="2069797"/>
            <a:ext cx="5642475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“isSolved() ensures the puzzle is solved only if all islands are connected and each island’s bridge count matches its required number.”</a:t>
            </a:r>
          </a:p>
        </p:txBody>
      </p:sp>
      <p:sp>
        <p:nvSpPr>
          <p:cNvPr id="7" name="Freeform 7"/>
          <p:cNvSpPr/>
          <p:nvPr/>
        </p:nvSpPr>
        <p:spPr>
          <a:xfrm>
            <a:off x="-4137296" y="8311953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4" y="0"/>
                </a:lnTo>
                <a:lnTo>
                  <a:pt x="7156964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27200" y="2774180"/>
            <a:ext cx="8498738" cy="389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</a:t>
            </a: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isSolved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 returns true, then the puzzle is solved correctly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1155" y="3194480"/>
            <a:ext cx="3613742" cy="38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Assume (Contradiction)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8219" y="3674198"/>
            <a:ext cx="7224309" cy="38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isSolved() returns true but the puzzle is incorrect.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664" y="4158386"/>
            <a:ext cx="4785316" cy="38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</a:t>
            </a: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isSolved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 to return true: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0235" y="4727351"/>
            <a:ext cx="3175694" cy="38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isConnected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 == true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0686" y="5217161"/>
            <a:ext cx="639862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1768" y="5645527"/>
            <a:ext cx="6987759" cy="38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getBridgeCount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isl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) == </a:t>
            </a: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isl.required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for all islands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1487" y="6249905"/>
            <a:ext cx="2201713" cy="389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Contradiction: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9902" y="6818870"/>
            <a:ext cx="6353027" cy="38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If graph is connected → no isolated islands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2937" y="6695321"/>
            <a:ext cx="233958" cy="1193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2937" y="6162396"/>
            <a:ext cx="233958" cy="1193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3139" y="7342884"/>
            <a:ext cx="7745016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If all degrees match → no under/over-connected islands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8219" y="8214487"/>
            <a:ext cx="7869932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Both violate the assumption that the puzzle is incorrect.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7947" y="8371014"/>
            <a:ext cx="3630181" cy="1202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endParaRPr dirty="0"/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Contradiction reached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✔ </a:t>
            </a: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isSolved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 is correct.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908333" y="4631384"/>
            <a:ext cx="4428538" cy="852781"/>
            <a:chOff x="0" y="0"/>
            <a:chExt cx="6024115" cy="116003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024114" cy="1160033"/>
            </a:xfrm>
            <a:custGeom>
              <a:avLst/>
              <a:gdLst/>
              <a:ahLst/>
              <a:cxnLst/>
              <a:rect l="l" t="t" r="r" b="b"/>
              <a:pathLst>
                <a:path w="6024114" h="1160033">
                  <a:moveTo>
                    <a:pt x="0" y="0"/>
                  </a:moveTo>
                  <a:lnTo>
                    <a:pt x="6024114" y="0"/>
                  </a:lnTo>
                  <a:lnTo>
                    <a:pt x="6024114" y="1160033"/>
                  </a:lnTo>
                  <a:lnTo>
                    <a:pt x="0" y="1160033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6024115" cy="1217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Functions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579784" y="5703602"/>
            <a:ext cx="7340528" cy="389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canConnect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(Island a, Island b, List&lt;Bridge&gt; extra)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91140" y="6133756"/>
            <a:ext cx="690324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islandBetween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(Island a, Island b, Island c)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795072" y="6652003"/>
            <a:ext cx="7508578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bridgesCross(Island a1, Island b1, Island a2, Island b2)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795072" y="7115196"/>
            <a:ext cx="6389787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findBridge(Island a, Island b, List&lt;Bridge&gt; list)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795072" y="7550531"/>
            <a:ext cx="401399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findBridge(Island a, Island b)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598834" y="7985866"/>
            <a:ext cx="4013993" cy="389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getBridgeCount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(Island </a:t>
            </a:r>
            <a:r>
              <a:rPr lang="en-US" sz="2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isl</a:t>
            </a: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2610" y="3563061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0" y="0"/>
                </a:lnTo>
                <a:lnTo>
                  <a:pt x="7882780" y="7882781"/>
                </a:lnTo>
                <a:lnTo>
                  <a:pt x="0" y="7882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/>
              <a:t>[12:43 am, 26/12/2025] Kishore Reddy: GOOD NIGHT BRO[1:45 pm, 26/12/2025] Santosh Amrita: Always selects a legal movePrefers moves that reduce constraints firstConnects disconnected components only</a:t>
            </a:r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-2184499" y="6352429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4" name="Group 4"/>
          <p:cNvGrpSpPr/>
          <p:nvPr/>
        </p:nvGrpSpPr>
        <p:grpSpPr>
          <a:xfrm>
            <a:off x="4304583" y="1757165"/>
            <a:ext cx="9678834" cy="1044031"/>
            <a:chOff x="0" y="0"/>
            <a:chExt cx="13166061" cy="14201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166061" cy="1420190"/>
            </a:xfrm>
            <a:custGeom>
              <a:avLst/>
              <a:gdLst/>
              <a:ahLst/>
              <a:cxnLst/>
              <a:rect l="l" t="t" r="r" b="b"/>
              <a:pathLst>
                <a:path w="13166061" h="1420190">
                  <a:moveTo>
                    <a:pt x="0" y="0"/>
                  </a:moveTo>
                  <a:lnTo>
                    <a:pt x="13166061" y="0"/>
                  </a:lnTo>
                  <a:lnTo>
                    <a:pt x="13166061" y="1420190"/>
                  </a:lnTo>
                  <a:lnTo>
                    <a:pt x="0" y="142019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3166061" cy="1477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GREEDY vs ORDINARY APPROACH</a:t>
              </a:r>
            </a:p>
          </p:txBody>
        </p:sp>
      </p:grpSp>
      <p:graphicFrame>
        <p:nvGraphicFramePr>
          <p:cNvPr id="7" name="Object 7"/>
          <p:cNvGraphicFramePr/>
          <p:nvPr>
            <p:extLst>
              <p:ext uri="{D42A27DB-BD31-4B8C-83A1-F6EECF244321}">
                <p14:modId xmlns:p14="http://schemas.microsoft.com/office/powerpoint/2010/main" val="3373861793"/>
              </p:ext>
            </p:extLst>
          </p:nvPr>
        </p:nvGraphicFramePr>
        <p:xfrm>
          <a:off x="4648200" y="3238500"/>
          <a:ext cx="8305800" cy="347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781800" imgH="4267200" progId="Excel.Sheet.12">
                  <p:embed/>
                </p:oleObj>
              </mc:Choice>
              <mc:Fallback>
                <p:oleObj name="Worksheet" r:id="rId3" imgW="6781800" imgH="4267200" progId="Excel.Sheet.12">
                  <p:embed/>
                  <p:pic>
                    <p:nvPicPr>
                      <p:cNvPr id="7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8200" y="3238500"/>
                        <a:ext cx="8305800" cy="347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8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4143F0F9-696E-F913-9376-1F806C788386}"/>
              </a:ext>
            </a:extLst>
          </p:cNvPr>
          <p:cNvGrpSpPr/>
          <p:nvPr/>
        </p:nvGrpSpPr>
        <p:grpSpPr>
          <a:xfrm>
            <a:off x="4304583" y="7262813"/>
            <a:ext cx="9448800" cy="2778481"/>
            <a:chOff x="-2240513" y="-66695"/>
            <a:chExt cx="14412099" cy="148688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9EE7701-20EB-944B-CDD8-56170C6C4D22}"/>
                </a:ext>
              </a:extLst>
            </p:cNvPr>
            <p:cNvSpPr/>
            <p:nvPr/>
          </p:nvSpPr>
          <p:spPr>
            <a:xfrm>
              <a:off x="-1426927" y="-66695"/>
              <a:ext cx="13166063" cy="1420190"/>
            </a:xfrm>
            <a:custGeom>
              <a:avLst/>
              <a:gdLst/>
              <a:ahLst/>
              <a:cxnLst/>
              <a:rect l="l" t="t" r="r" b="b"/>
              <a:pathLst>
                <a:path w="13166061" h="1420190">
                  <a:moveTo>
                    <a:pt x="0" y="0"/>
                  </a:moveTo>
                  <a:lnTo>
                    <a:pt x="13166061" y="0"/>
                  </a:lnTo>
                  <a:lnTo>
                    <a:pt x="13166061" y="1420190"/>
                  </a:lnTo>
                  <a:lnTo>
                    <a:pt x="0" y="142019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58197B1E-8B1F-C54E-3EAF-C518871631A8}"/>
                </a:ext>
              </a:extLst>
            </p:cNvPr>
            <p:cNvSpPr txBox="1"/>
            <p:nvPr/>
          </p:nvSpPr>
          <p:spPr>
            <a:xfrm>
              <a:off x="-2240513" y="-57150"/>
              <a:ext cx="14412099" cy="1477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Always selects a legal move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            Prefers moves that reduce constraints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                  </a:t>
              </a:r>
              <a:r>
                <a:rPr lang="en-US" sz="2599" b="1" dirty="0" err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firstConnects</a:t>
              </a:r>
              <a:r>
                <a:rPr lang="en-US" sz="25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disconnected components only.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5D71B79-EAAB-3772-B698-1786065E83BD}"/>
              </a:ext>
            </a:extLst>
          </p:cNvPr>
          <p:cNvSpPr txBox="1"/>
          <p:nvPr/>
        </p:nvSpPr>
        <p:spPr>
          <a:xfrm>
            <a:off x="3693319" y="5001550"/>
            <a:ext cx="11215686" cy="498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1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Always selects a legal move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2610" y="3563061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0" y="0"/>
                </a:lnTo>
                <a:lnTo>
                  <a:pt x="7882780" y="7882781"/>
                </a:lnTo>
                <a:lnTo>
                  <a:pt x="0" y="7882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352800" y="1574484"/>
            <a:ext cx="5948688" cy="1044031"/>
            <a:chOff x="0" y="0"/>
            <a:chExt cx="8091965" cy="14201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91966" cy="1420190"/>
            </a:xfrm>
            <a:custGeom>
              <a:avLst/>
              <a:gdLst/>
              <a:ahLst/>
              <a:cxnLst/>
              <a:rect l="l" t="t" r="r" b="b"/>
              <a:pathLst>
                <a:path w="8091966" h="1420190">
                  <a:moveTo>
                    <a:pt x="0" y="0"/>
                  </a:moveTo>
                  <a:lnTo>
                    <a:pt x="8091966" y="0"/>
                  </a:lnTo>
                  <a:lnTo>
                    <a:pt x="8091966" y="1420190"/>
                  </a:lnTo>
                  <a:lnTo>
                    <a:pt x="0" y="142019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091965" cy="1477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714267" y="2933364"/>
            <a:ext cx="4642743" cy="168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Turn Execution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Human Move → Rule Validation → Greedy CPU Move → Connectivity Check → Repeat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48284" y="5335570"/>
            <a:ext cx="3924148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Observations CPU connects components first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CPU resolves tight constraints early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92350" y="3344621"/>
            <a:ext cx="1927126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Human Move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88717" y="3835721"/>
            <a:ext cx="534392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↓ 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73784" y="4678045"/>
            <a:ext cx="534392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↓ 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68181" y="3799813"/>
            <a:ext cx="1487686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Validation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03109" y="5935644"/>
            <a:ext cx="534392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↓ 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37475" y="5112004"/>
            <a:ext cx="2548632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CPU Greedy Move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22215" y="6280556"/>
            <a:ext cx="189726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Check Solved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73784" y="7045439"/>
            <a:ext cx="534392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↓ 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88567" y="7455709"/>
            <a:ext cx="1364556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Next Turn</a:t>
            </a:r>
          </a:p>
        </p:txBody>
      </p:sp>
      <p:sp>
        <p:nvSpPr>
          <p:cNvPr id="18" name="Freeform 18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sp>
        <p:nvSpPr>
          <p:cNvPr id="22" name="Freeform 22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CDAAD2-5594-709D-6215-9116254B062C}"/>
              </a:ext>
            </a:extLst>
          </p:cNvPr>
          <p:cNvSpPr txBox="1"/>
          <p:nvPr/>
        </p:nvSpPr>
        <p:spPr>
          <a:xfrm>
            <a:off x="763935" y="1815590"/>
            <a:ext cx="11217728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GAME SIMULATION FLOW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2609" y="3925398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0" y="0"/>
                </a:lnTo>
                <a:lnTo>
                  <a:pt x="7882780" y="7882781"/>
                </a:lnTo>
                <a:lnTo>
                  <a:pt x="0" y="7882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755464" y="68609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7450371" y="454502"/>
            <a:ext cx="407026" cy="407026"/>
          </a:xfrm>
          <a:custGeom>
            <a:avLst/>
            <a:gdLst/>
            <a:ahLst/>
            <a:cxnLst/>
            <a:rect l="l" t="t" r="r" b="b"/>
            <a:pathLst>
              <a:path w="407026" h="407026">
                <a:moveTo>
                  <a:pt x="407025" y="407026"/>
                </a:moveTo>
                <a:lnTo>
                  <a:pt x="0" y="407026"/>
                </a:lnTo>
                <a:lnTo>
                  <a:pt x="0" y="0"/>
                </a:lnTo>
                <a:lnTo>
                  <a:pt x="407025" y="0"/>
                </a:lnTo>
                <a:lnTo>
                  <a:pt x="407025" y="407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sp>
        <p:nvSpPr>
          <p:cNvPr id="14" name="Freeform 14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4">
            <a:extLst>
              <a:ext uri="{FF2B5EF4-FFF2-40B4-BE49-F238E27FC236}">
                <a16:creationId xmlns:a16="http://schemas.microsoft.com/office/drawing/2014/main" id="{AA6BEFB5-ABF5-F7F4-3DF1-CFF31484E2D3}"/>
              </a:ext>
            </a:extLst>
          </p:cNvPr>
          <p:cNvGrpSpPr/>
          <p:nvPr/>
        </p:nvGrpSpPr>
        <p:grpSpPr>
          <a:xfrm>
            <a:off x="4304583" y="1715152"/>
            <a:ext cx="9678834" cy="1086044"/>
            <a:chOff x="0" y="-57150"/>
            <a:chExt cx="13166061" cy="1477340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C3EA9FC-D1C9-CB03-851F-1845FAF860A2}"/>
                </a:ext>
              </a:extLst>
            </p:cNvPr>
            <p:cNvSpPr/>
            <p:nvPr/>
          </p:nvSpPr>
          <p:spPr>
            <a:xfrm>
              <a:off x="0" y="0"/>
              <a:ext cx="13166061" cy="1420190"/>
            </a:xfrm>
            <a:custGeom>
              <a:avLst/>
              <a:gdLst/>
              <a:ahLst/>
              <a:cxnLst/>
              <a:rect l="l" t="t" r="r" b="b"/>
              <a:pathLst>
                <a:path w="13166061" h="1420190">
                  <a:moveTo>
                    <a:pt x="0" y="0"/>
                  </a:moveTo>
                  <a:lnTo>
                    <a:pt x="13166061" y="0"/>
                  </a:lnTo>
                  <a:lnTo>
                    <a:pt x="13166061" y="1420190"/>
                  </a:lnTo>
                  <a:lnTo>
                    <a:pt x="0" y="142019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F2368C87-BC8F-9B11-1B2C-13C9EBAEB64F}"/>
                </a:ext>
              </a:extLst>
            </p:cNvPr>
            <p:cNvSpPr txBox="1"/>
            <p:nvPr/>
          </p:nvSpPr>
          <p:spPr>
            <a:xfrm>
              <a:off x="0" y="-57150"/>
              <a:ext cx="13166061" cy="1477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CONCLUSION</a:t>
              </a:r>
            </a:p>
          </p:txBody>
        </p:sp>
      </p:grpSp>
      <p:sp>
        <p:nvSpPr>
          <p:cNvPr id="18" name="TextBox 7">
            <a:extLst>
              <a:ext uri="{FF2B5EF4-FFF2-40B4-BE49-F238E27FC236}">
                <a16:creationId xmlns:a16="http://schemas.microsoft.com/office/drawing/2014/main" id="{B40285FE-1AB9-2A87-9E8B-1F2EEB151569}"/>
              </a:ext>
            </a:extLst>
          </p:cNvPr>
          <p:cNvSpPr txBox="1"/>
          <p:nvPr/>
        </p:nvSpPr>
        <p:spPr>
          <a:xfrm>
            <a:off x="5801866" y="4525645"/>
            <a:ext cx="6684268" cy="119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Graph theory applied effectively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Greedy CPU ensures correctness and efficiency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Intelligent CPU gameplay achieved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D30304F6-6587-563D-BDE0-41114BF6A19A}"/>
              </a:ext>
            </a:extLst>
          </p:cNvPr>
          <p:cNvSpPr txBox="1"/>
          <p:nvPr/>
        </p:nvSpPr>
        <p:spPr>
          <a:xfrm>
            <a:off x="7474352" y="3344621"/>
            <a:ext cx="2803227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Outcome 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8884D611-DC99-F7FF-8FA0-94DFAA499420}"/>
              </a:ext>
            </a:extLst>
          </p:cNvPr>
          <p:cNvSpPr txBox="1"/>
          <p:nvPr/>
        </p:nvSpPr>
        <p:spPr>
          <a:xfrm>
            <a:off x="5682804" y="6210300"/>
            <a:ext cx="7237035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“Thus, greedy is the most suitable strategy for this problem.”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1C0544-99D9-AA00-05A3-725AEA8A8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1056" y="111066"/>
            <a:ext cx="18288000" cy="10291097"/>
          </a:xfrm>
          <a:prstGeom prst="rect">
            <a:avLst/>
          </a:prstGeom>
        </p:spPr>
      </p:pic>
      <p:grpSp>
        <p:nvGrpSpPr>
          <p:cNvPr id="2" name="Group 3">
            <a:extLst>
              <a:ext uri="{FF2B5EF4-FFF2-40B4-BE49-F238E27FC236}">
                <a16:creationId xmlns:a16="http://schemas.microsoft.com/office/drawing/2014/main" id="{157D56A0-6CEF-1EDE-5AFD-74A36B0B4490}"/>
              </a:ext>
            </a:extLst>
          </p:cNvPr>
          <p:cNvGrpSpPr/>
          <p:nvPr/>
        </p:nvGrpSpPr>
        <p:grpSpPr>
          <a:xfrm>
            <a:off x="1799184" y="1039044"/>
            <a:ext cx="5948688" cy="604705"/>
            <a:chOff x="0" y="0"/>
            <a:chExt cx="8091965" cy="142019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5AD7768-4D2D-9907-BEEF-E5C396E7A6F8}"/>
                </a:ext>
              </a:extLst>
            </p:cNvPr>
            <p:cNvSpPr/>
            <p:nvPr/>
          </p:nvSpPr>
          <p:spPr>
            <a:xfrm>
              <a:off x="0" y="0"/>
              <a:ext cx="8091966" cy="1420190"/>
            </a:xfrm>
            <a:custGeom>
              <a:avLst/>
              <a:gdLst/>
              <a:ahLst/>
              <a:cxnLst/>
              <a:rect l="l" t="t" r="r" b="b"/>
              <a:pathLst>
                <a:path w="8091966" h="1420190">
                  <a:moveTo>
                    <a:pt x="0" y="0"/>
                  </a:moveTo>
                  <a:lnTo>
                    <a:pt x="8091966" y="0"/>
                  </a:lnTo>
                  <a:lnTo>
                    <a:pt x="8091966" y="1420190"/>
                  </a:lnTo>
                  <a:lnTo>
                    <a:pt x="0" y="142019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r>
                <a:rPr lang="en-IN" sz="2400" dirty="0">
                  <a:solidFill>
                    <a:schemeClr val="bg1"/>
                  </a:solidFill>
                </a:rPr>
                <a:t>                       CONTRIBUTIONS: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041A9C2-89AF-BD39-7F7E-EC4B9C7C50C0}"/>
                </a:ext>
              </a:extLst>
            </p:cNvPr>
            <p:cNvSpPr txBox="1"/>
            <p:nvPr/>
          </p:nvSpPr>
          <p:spPr>
            <a:xfrm>
              <a:off x="0" y="-57150"/>
              <a:ext cx="8091965" cy="1477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5C92CC9-B111-BECE-4EF9-94EA8FC46AA9}"/>
              </a:ext>
            </a:extLst>
          </p:cNvPr>
          <p:cNvSpPr txBox="1"/>
          <p:nvPr/>
        </p:nvSpPr>
        <p:spPr>
          <a:xfrm>
            <a:off x="2231232" y="2911252"/>
            <a:ext cx="792088" cy="5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29A3BE-E719-F0B8-EBC0-B72D309AC376}"/>
              </a:ext>
            </a:extLst>
          </p:cNvPr>
          <p:cNvSpPr txBox="1"/>
          <p:nvPr/>
        </p:nvSpPr>
        <p:spPr>
          <a:xfrm>
            <a:off x="1799184" y="2181405"/>
            <a:ext cx="928047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>
                <a:solidFill>
                  <a:schemeClr val="bg1"/>
                </a:solidFill>
              </a:rPr>
              <a:t>Individual Contribution Information</a:t>
            </a:r>
            <a:endParaRPr lang="en-IN" sz="25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60A4F8-01A8-71F1-9A74-AF60A9D47826}"/>
              </a:ext>
            </a:extLst>
          </p:cNvPr>
          <p:cNvSpPr txBox="1"/>
          <p:nvPr/>
        </p:nvSpPr>
        <p:spPr>
          <a:xfrm>
            <a:off x="1655168" y="3399490"/>
            <a:ext cx="9280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Tulasi </a:t>
            </a:r>
            <a:r>
              <a:rPr lang="en-IN" sz="2400" dirty="0" err="1">
                <a:solidFill>
                  <a:schemeClr val="bg1"/>
                </a:solidFill>
              </a:rPr>
              <a:t>Sadhwika</a:t>
            </a:r>
            <a:r>
              <a:rPr lang="en-IN" sz="2400" dirty="0">
                <a:solidFill>
                  <a:schemeClr val="bg1"/>
                </a:solidFill>
              </a:rPr>
              <a:t>  - CB.SC.U4CSE24054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A2D495-7572-F980-12CC-77882152810F}"/>
              </a:ext>
            </a:extLst>
          </p:cNvPr>
          <p:cNvSpPr txBox="1"/>
          <p:nvPr/>
        </p:nvSpPr>
        <p:spPr>
          <a:xfrm>
            <a:off x="2015208" y="3702619"/>
            <a:ext cx="928047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.</a:t>
            </a:r>
            <a:r>
              <a:rPr lang="en-IN" sz="1800" dirty="0">
                <a:solidFill>
                  <a:schemeClr val="bg1"/>
                </a:solidFill>
              </a:rPr>
              <a:t>   Designed overall game architecture</a:t>
            </a:r>
          </a:p>
          <a:p>
            <a:r>
              <a:rPr lang="en-IN" sz="1800" dirty="0">
                <a:solidFill>
                  <a:schemeClr val="bg1"/>
                </a:solidFill>
              </a:rPr>
              <a:t>•  Implemented puzzle generation logic</a:t>
            </a:r>
          </a:p>
          <a:p>
            <a:r>
              <a:rPr lang="en-IN" sz="1800" dirty="0">
                <a:solidFill>
                  <a:schemeClr val="bg1"/>
                </a:solidFill>
              </a:rPr>
              <a:t>•  Managed Java Swing UI components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532DB9-3198-F5BD-9C35-D36148A2CCF1}"/>
              </a:ext>
            </a:extLst>
          </p:cNvPr>
          <p:cNvSpPr txBox="1"/>
          <p:nvPr/>
        </p:nvSpPr>
        <p:spPr>
          <a:xfrm>
            <a:off x="1796864" y="5949500"/>
            <a:ext cx="9280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>
                <a:solidFill>
                  <a:schemeClr val="bg1"/>
                </a:solidFill>
              </a:rPr>
              <a:t>Santhosh.V</a:t>
            </a:r>
            <a:r>
              <a:rPr lang="en-IN" sz="2400" dirty="0">
                <a:solidFill>
                  <a:schemeClr val="bg1"/>
                </a:solidFill>
              </a:rPr>
              <a:t>  - CB.SC.U4CSE24047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EB7F5B-8E09-F103-C4BB-B0F04BF03694}"/>
              </a:ext>
            </a:extLst>
          </p:cNvPr>
          <p:cNvSpPr txBox="1"/>
          <p:nvPr/>
        </p:nvSpPr>
        <p:spPr>
          <a:xfrm>
            <a:off x="1799184" y="6369305"/>
            <a:ext cx="92804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</a:rPr>
              <a:t>. </a:t>
            </a:r>
            <a:r>
              <a:rPr lang="en-IN" sz="1800" dirty="0">
                <a:solidFill>
                  <a:schemeClr val="bg1"/>
                </a:solidFill>
              </a:rPr>
              <a:t>Implemented graph algorithms (BFS, connected components)</a:t>
            </a:r>
          </a:p>
          <a:p>
            <a:r>
              <a:rPr lang="en-IN" sz="1800" dirty="0">
                <a:solidFill>
                  <a:schemeClr val="bg1"/>
                </a:solidFill>
              </a:rPr>
              <a:t>•    Developed solution verification logic</a:t>
            </a:r>
          </a:p>
          <a:p>
            <a:r>
              <a:rPr lang="en-IN" sz="1800" dirty="0">
                <a:solidFill>
                  <a:schemeClr val="bg1"/>
                </a:solidFill>
              </a:rPr>
              <a:t>•    Assisted in debugging and testing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EACD3F-C7AD-0A30-8298-0AE84F999AA6}"/>
              </a:ext>
            </a:extLst>
          </p:cNvPr>
          <p:cNvSpPr txBox="1"/>
          <p:nvPr/>
        </p:nvSpPr>
        <p:spPr>
          <a:xfrm>
            <a:off x="9605682" y="3317850"/>
            <a:ext cx="1130141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 </a:t>
            </a:r>
            <a:r>
              <a:rPr lang="en-IN" sz="2500" dirty="0" err="1">
                <a:solidFill>
                  <a:schemeClr val="bg1"/>
                </a:solidFill>
              </a:rPr>
              <a:t>B.Hasini</a:t>
            </a:r>
            <a:r>
              <a:rPr lang="en-IN" sz="2500" dirty="0">
                <a:solidFill>
                  <a:schemeClr val="bg1"/>
                </a:solidFill>
              </a:rPr>
              <a:t>  - CB.SC.U4CSE24068</a:t>
            </a:r>
          </a:p>
          <a:p>
            <a:endParaRPr lang="en-IN" sz="2500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       •</a:t>
            </a:r>
            <a:r>
              <a:rPr lang="en-IN" dirty="0">
                <a:solidFill>
                  <a:schemeClr val="bg1"/>
                </a:solidFill>
              </a:rPr>
              <a:t>   </a:t>
            </a:r>
            <a:r>
              <a:rPr lang="en-IN" sz="1800" dirty="0">
                <a:solidFill>
                  <a:schemeClr val="bg1"/>
                </a:solidFill>
              </a:rPr>
              <a:t>Designed and implemented AI logic</a:t>
            </a:r>
          </a:p>
          <a:p>
            <a:r>
              <a:rPr lang="en-IN" sz="1800" dirty="0">
                <a:solidFill>
                  <a:schemeClr val="bg1"/>
                </a:solidFill>
              </a:rPr>
              <a:t>       •</a:t>
            </a:r>
            <a:r>
              <a:rPr lang="en-IN" dirty="0">
                <a:solidFill>
                  <a:schemeClr val="bg1"/>
                </a:solidFill>
              </a:rPr>
              <a:t>   </a:t>
            </a:r>
            <a:r>
              <a:rPr lang="en-IN" sz="1800" dirty="0">
                <a:solidFill>
                  <a:schemeClr val="bg1"/>
                </a:solidFill>
              </a:rPr>
              <a:t>Applied </a:t>
            </a:r>
            <a:r>
              <a:rPr lang="en-IN" sz="1800" dirty="0" err="1">
                <a:solidFill>
                  <a:schemeClr val="bg1"/>
                </a:solidFill>
              </a:rPr>
              <a:t>Borůvka’s</a:t>
            </a:r>
            <a:r>
              <a:rPr lang="en-IN" sz="1800" dirty="0">
                <a:solidFill>
                  <a:schemeClr val="bg1"/>
                </a:solidFill>
              </a:rPr>
              <a:t> principle and heuristic sorting</a:t>
            </a:r>
          </a:p>
          <a:p>
            <a:r>
              <a:rPr lang="en-IN" sz="1800" dirty="0">
                <a:solidFill>
                  <a:schemeClr val="bg1"/>
                </a:solidFill>
              </a:rPr>
              <a:t>       •</a:t>
            </a:r>
            <a:r>
              <a:rPr lang="en-IN" dirty="0">
                <a:solidFill>
                  <a:schemeClr val="bg1"/>
                </a:solidFill>
              </a:rPr>
              <a:t>   </a:t>
            </a:r>
            <a:r>
              <a:rPr lang="en-IN" sz="1800" dirty="0">
                <a:solidFill>
                  <a:schemeClr val="bg1"/>
                </a:solidFill>
              </a:rPr>
              <a:t>Optimized greedy decision-making strategy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269CAE-B2EC-BA76-3454-934BF729B23A}"/>
              </a:ext>
            </a:extLst>
          </p:cNvPr>
          <p:cNvSpPr txBox="1"/>
          <p:nvPr/>
        </p:nvSpPr>
        <p:spPr>
          <a:xfrm>
            <a:off x="9792072" y="6149715"/>
            <a:ext cx="11301412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Devara Kishore Reddy – CB.SC.U4CSE24010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     •</a:t>
            </a:r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sz="1800" dirty="0">
                <a:solidFill>
                  <a:schemeClr val="bg1"/>
                </a:solidFill>
              </a:rPr>
              <a:t>Implemented input handling and rendering logic</a:t>
            </a:r>
          </a:p>
          <a:p>
            <a:r>
              <a:rPr lang="en-IN" sz="1800" dirty="0">
                <a:solidFill>
                  <a:schemeClr val="bg1"/>
                </a:solidFill>
              </a:rPr>
              <a:t>     •</a:t>
            </a:r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sz="1800" dirty="0">
                <a:solidFill>
                  <a:schemeClr val="bg1"/>
                </a:solidFill>
              </a:rPr>
              <a:t>Managed mouse interactions and animations</a:t>
            </a:r>
          </a:p>
          <a:p>
            <a:r>
              <a:rPr lang="en-IN" sz="1800" dirty="0">
                <a:solidFill>
                  <a:schemeClr val="bg1"/>
                </a:solidFill>
              </a:rPr>
              <a:t>     •</a:t>
            </a:r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sz="1800" dirty="0">
                <a:solidFill>
                  <a:schemeClr val="bg1"/>
                </a:solidFill>
              </a:rPr>
              <a:t>Prepared documentation and presentation material</a:t>
            </a:r>
          </a:p>
        </p:txBody>
      </p:sp>
    </p:spTree>
    <p:extLst>
      <p:ext uri="{BB962C8B-B14F-4D97-AF65-F5344CB8AC3E}">
        <p14:creationId xmlns:p14="http://schemas.microsoft.com/office/powerpoint/2010/main" val="526452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04583" y="1757165"/>
            <a:ext cx="9678834" cy="6918453"/>
            <a:chOff x="0" y="0"/>
            <a:chExt cx="13166061" cy="9411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66061" cy="9411131"/>
            </a:xfrm>
            <a:custGeom>
              <a:avLst/>
              <a:gdLst/>
              <a:ahLst/>
              <a:cxnLst/>
              <a:rect l="l" t="t" r="r" b="b"/>
              <a:pathLst>
                <a:path w="13166061" h="9411131">
                  <a:moveTo>
                    <a:pt x="0" y="0"/>
                  </a:moveTo>
                  <a:lnTo>
                    <a:pt x="13166061" y="0"/>
                  </a:lnTo>
                  <a:lnTo>
                    <a:pt x="13166061" y="9411131"/>
                  </a:lnTo>
                  <a:lnTo>
                    <a:pt x="0" y="9411131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133350"/>
              <a:ext cx="13166061" cy="9544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659"/>
                </a:lnSpc>
              </a:pPr>
              <a:r>
                <a:rPr lang="en-US" sz="68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THANK YOU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0405219" y="1202110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1" y="0"/>
                </a:lnTo>
                <a:lnTo>
                  <a:pt x="7882781" y="7882780"/>
                </a:lnTo>
                <a:lnTo>
                  <a:pt x="0" y="788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39108" y="517674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BRIDGES</a:t>
            </a:r>
          </a:p>
        </p:txBody>
      </p:sp>
      <p:sp>
        <p:nvSpPr>
          <p:cNvPr id="9" name="Freeform 9"/>
          <p:cNvSpPr/>
          <p:nvPr/>
        </p:nvSpPr>
        <p:spPr>
          <a:xfrm>
            <a:off x="645262" y="478847"/>
            <a:ext cx="237347" cy="294675"/>
          </a:xfrm>
          <a:custGeom>
            <a:avLst/>
            <a:gdLst/>
            <a:ahLst/>
            <a:cxnLst/>
            <a:rect l="l" t="t" r="r" b="b"/>
            <a:pathLst>
              <a:path w="237347" h="294675">
                <a:moveTo>
                  <a:pt x="0" y="0"/>
                </a:moveTo>
                <a:lnTo>
                  <a:pt x="237347" y="0"/>
                </a:lnTo>
                <a:lnTo>
                  <a:pt x="237347" y="294674"/>
                </a:lnTo>
                <a:lnTo>
                  <a:pt x="0" y="2946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</Template>
  <TotalTime>45</TotalTime>
  <Words>1144</Words>
  <Application>Microsoft Office PowerPoint</Application>
  <PresentationFormat>Custom</PresentationFormat>
  <Paragraphs>248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Canva Sans Bold</vt:lpstr>
      <vt:lpstr>Calibri</vt:lpstr>
      <vt:lpstr>Open Sans</vt:lpstr>
      <vt:lpstr>Arial</vt:lpstr>
      <vt:lpstr>Bebas Neue Bold</vt:lpstr>
      <vt:lpstr>Canva Sans</vt:lpstr>
      <vt:lpstr>Open Sans 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dnkr22006@outlook.com</dc:creator>
  <cp:lastModifiedBy>Tulasi Sadhwika</cp:lastModifiedBy>
  <cp:revision>5</cp:revision>
  <dcterms:created xsi:type="dcterms:W3CDTF">2025-12-26T07:54:07Z</dcterms:created>
  <dcterms:modified xsi:type="dcterms:W3CDTF">2025-12-26T09:54:23Z</dcterms:modified>
  <dc:identifier>DAG8ghbSjc0</dc:identifier>
</cp:coreProperties>
</file>